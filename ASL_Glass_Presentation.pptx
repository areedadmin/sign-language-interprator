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A1979E-8DC5-B841-BF80-F0F7B2FF6A3D}" v="39" dt="2026-03-24T19:22:55.5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>
        <p:scale>
          <a:sx n="135" d="100"/>
          <a:sy n="135" d="100"/>
        </p:scale>
        <p:origin x="864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2902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457200"/>
            <a:ext cx="8321040" cy="425196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FFFFF">
                <a:alpha val="60000"/>
              </a:srgbClr>
            </a:solidFill>
            <a:prstDash val="solid"/>
          </a:ln>
          <a:effectLst>
            <a:outerShdw blurRad="279400" dist="76200" dir="8700000" algn="bl" rotWithShape="0">
              <a:srgbClr val="5B21B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457200"/>
            <a:ext cx="91440" cy="4251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18872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GB" sz="8000" b="1" dirty="0"/>
              <a:t>🧏</a:t>
            </a:r>
            <a:endParaRPr lang="en-GB" sz="8000" dirty="0"/>
          </a:p>
        </p:txBody>
      </p:sp>
      <p:sp>
        <p:nvSpPr>
          <p:cNvPr id="6" name="Shape 4"/>
          <p:cNvSpPr/>
          <p:nvPr/>
        </p:nvSpPr>
        <p:spPr>
          <a:xfrm>
            <a:off x="2651760" y="713232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51760" y="713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bg1"/>
                </a:solidFill>
              </a:rPr>
              <a:t>CBC SPRING 2026 · IMPERIAL COLLEGE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606040" y="1051560"/>
            <a:ext cx="5852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5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Real-Time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5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606040" y="265176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the communication barrier between sign language</a:t>
            </a:r>
            <a:endParaRPr lang="en-US" sz="1400" dirty="0"/>
          </a:p>
          <a:p>
            <a:pPr marL="0" indent="0" algn="l">
              <a:buNone/>
            </a:pPr>
            <a:r>
              <a:rPr lang="en-US" sz="1400" i="1" dirty="0">
                <a:solidFill>
                  <a:srgbClr val="4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spoken world — in real time.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06040" y="3520440"/>
            <a:ext cx="54864" cy="54864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15768" y="3520440"/>
            <a:ext cx="54864" cy="54864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25496" y="3520440"/>
            <a:ext cx="54864" cy="54864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35224" y="3520440"/>
            <a:ext cx="54864" cy="54864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044952" y="3520440"/>
            <a:ext cx="54864" cy="54864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54680" y="3520440"/>
            <a:ext cx="54864" cy="54864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64408" y="3520440"/>
            <a:ext cx="54864" cy="54864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374136" y="3520440"/>
            <a:ext cx="54864" cy="54864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83864" y="3520440"/>
            <a:ext cx="54864" cy="54864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593592" y="3520440"/>
            <a:ext cx="54864" cy="54864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03320" y="3520440"/>
            <a:ext cx="54864" cy="54864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13048" y="3520440"/>
            <a:ext cx="54864" cy="54864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922776" y="3520440"/>
            <a:ext cx="54864" cy="54864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032504" y="3520440"/>
            <a:ext cx="54864" cy="54864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142232" y="3520440"/>
            <a:ext cx="54864" cy="54864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51960" y="3520440"/>
            <a:ext cx="54864" cy="54864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361688" y="3520440"/>
            <a:ext cx="54864" cy="54864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471416" y="3520440"/>
            <a:ext cx="54864" cy="54864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81144" y="3520440"/>
            <a:ext cx="54864" cy="54864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90872" y="3520440"/>
            <a:ext cx="54864" cy="54864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00600" y="3520440"/>
            <a:ext cx="54864" cy="54864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910328" y="3520440"/>
            <a:ext cx="54864" cy="54864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020056" y="3520440"/>
            <a:ext cx="54864" cy="54864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129784" y="3520440"/>
            <a:ext cx="54864" cy="54864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606040" y="3730752"/>
            <a:ext cx="1078992" cy="292608"/>
          </a:xfrm>
          <a:prstGeom prst="roundRect">
            <a:avLst>
              <a:gd name="adj" fmla="val 18750"/>
            </a:avLst>
          </a:prstGeom>
          <a:solidFill>
            <a:srgbClr val="06B6D4">
              <a:alpha val="80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606040" y="373075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</a:rPr>
              <a:t>MediaPipe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730752" y="3730752"/>
            <a:ext cx="1078992" cy="292608"/>
          </a:xfrm>
          <a:prstGeom prst="roundRect">
            <a:avLst>
              <a:gd name="adj" fmla="val 18750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730752" y="373075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</a:rPr>
              <a:t>CNN-LSTM ML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855464" y="3730752"/>
            <a:ext cx="1078992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55464" y="373075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</a:rPr>
              <a:t>pyttsx3 TTS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980176" y="3730752"/>
            <a:ext cx="1078992" cy="292608"/>
          </a:xfrm>
          <a:prstGeom prst="roundRect">
            <a:avLst>
              <a:gd name="adj" fmla="val 18750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3B82F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980176" y="373075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</a:rPr>
              <a:t>Gradio UI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104888" y="3730752"/>
            <a:ext cx="1078992" cy="292608"/>
          </a:xfrm>
          <a:prstGeom prst="roundRect">
            <a:avLst>
              <a:gd name="adj" fmla="val 18750"/>
            </a:avLst>
          </a:prstGeom>
          <a:solidFill>
            <a:srgbClr val="F43F5E">
              <a:alpha val="80000"/>
            </a:srgbClr>
          </a:solidFill>
          <a:ln w="12700">
            <a:solidFill>
              <a:srgbClr val="F43F5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104888" y="373075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</a:rPr>
              <a:t>Track 1: Health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640080" y="448056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88AA"/>
                </a:solidFill>
              </a:rPr>
              <a:t>🌍  78M Deaf &amp; hard-of-hearing people worldwide deserve to be understood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6B6D4">
              <a:alpha val="80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bg1"/>
                </a:solidFill>
              </a:rPr>
              <a:t>TRACK 1 · HEALTH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4160520" cy="3767328"/>
          </a:xfrm>
          <a:prstGeom prst="rect">
            <a:avLst/>
          </a:prstGeom>
          <a:solidFill>
            <a:srgbClr val="FFFFFF">
              <a:alpha val="90000"/>
            </a:srgbClr>
          </a:solidFill>
          <a:ln w="19050">
            <a:solidFill>
              <a:srgbClr val="FFFFFF">
                <a:alpha val="60000"/>
              </a:srgbClr>
            </a:solidFill>
            <a:prstDash val="solid"/>
          </a:ln>
          <a:effectLst>
            <a:outerShdw blurRad="279400" dist="76200" dir="8700000" algn="bl" rotWithShape="0">
              <a:srgbClr val="5B21B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234440"/>
            <a:ext cx="3977640" cy="1938528"/>
          </a:xfrm>
          <a:prstGeom prst="rect">
            <a:avLst/>
          </a:prstGeom>
          <a:solidFill>
            <a:srgbClr val="0A0A1A">
              <a:alpha val="95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2527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</a:rPr>
              <a:t>📹  Live Camera Feed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05380" y="1261872"/>
            <a:ext cx="100584" cy="100584"/>
          </a:xfrm>
          <a:prstGeom prst="ellipse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24528" y="12435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3333"/>
                </a:solidFill>
              </a:rPr>
              <a:t>REC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194560" y="2834640"/>
            <a:ext cx="329692" cy="0"/>
          </a:xfrm>
          <a:prstGeom prst="line">
            <a:avLst/>
          </a:prstGeom>
          <a:noFill/>
          <a:ln w="12700">
            <a:solidFill>
              <a:srgbClr val="00FF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920240" y="2651760"/>
            <a:ext cx="214251" cy="0"/>
          </a:xfrm>
          <a:prstGeom prst="line">
            <a:avLst/>
          </a:prstGeom>
          <a:noFill/>
          <a:ln w="12700">
            <a:solidFill>
              <a:srgbClr val="00FF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783080" y="2487168"/>
            <a:ext cx="174696" cy="0"/>
          </a:xfrm>
          <a:prstGeom prst="line">
            <a:avLst/>
          </a:prstGeom>
          <a:noFill/>
          <a:ln w="12700">
            <a:solidFill>
              <a:srgbClr val="00FF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664208" y="2359152"/>
            <a:ext cx="168607" cy="0"/>
          </a:xfrm>
          <a:prstGeom prst="line">
            <a:avLst/>
          </a:prstGeom>
          <a:noFill/>
          <a:ln w="12700">
            <a:solidFill>
              <a:srgbClr val="00FF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194560" y="2834640"/>
            <a:ext cx="443178" cy="0"/>
          </a:xfrm>
          <a:prstGeom prst="line">
            <a:avLst/>
          </a:prstGeom>
          <a:noFill/>
          <a:ln w="12700">
            <a:solidFill>
              <a:srgbClr val="00FF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29968" y="2423160"/>
            <a:ext cx="237216" cy="0"/>
          </a:xfrm>
          <a:prstGeom prst="line">
            <a:avLst/>
          </a:prstGeom>
          <a:noFill/>
          <a:ln w="12700">
            <a:solidFill>
              <a:srgbClr val="00FF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920240" y="2212848"/>
            <a:ext cx="180348" cy="0"/>
          </a:xfrm>
          <a:prstGeom prst="line">
            <a:avLst/>
          </a:prstGeom>
          <a:noFill/>
          <a:ln w="12700">
            <a:solidFill>
              <a:srgbClr val="00FF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28800" y="2057400"/>
            <a:ext cx="139577" cy="0"/>
          </a:xfrm>
          <a:prstGeom prst="line">
            <a:avLst/>
          </a:prstGeom>
          <a:noFill/>
          <a:ln w="12700">
            <a:solidFill>
              <a:srgbClr val="00FF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194560" y="2834640"/>
            <a:ext cx="439293" cy="0"/>
          </a:xfrm>
          <a:prstGeom prst="line">
            <a:avLst/>
          </a:prstGeom>
          <a:noFill/>
          <a:ln w="12700">
            <a:solidFill>
              <a:srgbClr val="00FF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12848" y="2395728"/>
            <a:ext cx="222483" cy="0"/>
          </a:xfrm>
          <a:prstGeom prst="line">
            <a:avLst/>
          </a:prstGeom>
          <a:noFill/>
          <a:ln w="12700">
            <a:solidFill>
              <a:srgbClr val="00FF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176272" y="2176272"/>
            <a:ext cx="166862" cy="0"/>
          </a:xfrm>
          <a:prstGeom prst="line">
            <a:avLst/>
          </a:prstGeom>
          <a:noFill/>
          <a:ln w="12700">
            <a:solidFill>
              <a:srgbClr val="00FF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148840" y="2011680"/>
            <a:ext cx="129316" cy="0"/>
          </a:xfrm>
          <a:prstGeom prst="line">
            <a:avLst/>
          </a:prstGeom>
          <a:noFill/>
          <a:ln w="12700">
            <a:solidFill>
              <a:srgbClr val="00FF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194560" y="2834640"/>
            <a:ext cx="458022" cy="0"/>
          </a:xfrm>
          <a:prstGeom prst="line">
            <a:avLst/>
          </a:prstGeom>
          <a:noFill/>
          <a:ln w="12700">
            <a:solidFill>
              <a:srgbClr val="00FF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395728" y="2423160"/>
            <a:ext cx="212093" cy="0"/>
          </a:xfrm>
          <a:prstGeom prst="line">
            <a:avLst/>
          </a:prstGeom>
          <a:noFill/>
          <a:ln w="12700">
            <a:solidFill>
              <a:srgbClr val="00FF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423160" y="2212848"/>
            <a:ext cx="146589" cy="0"/>
          </a:xfrm>
          <a:prstGeom prst="line">
            <a:avLst/>
          </a:prstGeom>
          <a:noFill/>
          <a:ln w="12700">
            <a:solidFill>
              <a:srgbClr val="00FF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432304" y="2066544"/>
            <a:ext cx="110108" cy="0"/>
          </a:xfrm>
          <a:prstGeom prst="line">
            <a:avLst/>
          </a:prstGeom>
          <a:noFill/>
          <a:ln w="12700">
            <a:solidFill>
              <a:srgbClr val="00FF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194560" y="2834640"/>
            <a:ext cx="504497" cy="0"/>
          </a:xfrm>
          <a:prstGeom prst="line">
            <a:avLst/>
          </a:prstGeom>
          <a:noFill/>
          <a:ln w="12700">
            <a:solidFill>
              <a:srgbClr val="00FF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60320" y="2487168"/>
            <a:ext cx="196968" cy="0"/>
          </a:xfrm>
          <a:prstGeom prst="line">
            <a:avLst/>
          </a:prstGeom>
          <a:noFill/>
          <a:ln w="12700">
            <a:solidFill>
              <a:srgbClr val="00FF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633472" y="2304288"/>
            <a:ext cx="139277" cy="0"/>
          </a:xfrm>
          <a:prstGeom prst="line">
            <a:avLst/>
          </a:prstGeom>
          <a:noFill/>
          <a:ln w="12700">
            <a:solidFill>
              <a:srgbClr val="00FF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688336" y="2176272"/>
            <a:ext cx="98484" cy="0"/>
          </a:xfrm>
          <a:prstGeom prst="line">
            <a:avLst/>
          </a:prstGeom>
          <a:noFill/>
          <a:ln w="12700">
            <a:solidFill>
              <a:srgbClr val="00FF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029968" y="2423160"/>
            <a:ext cx="184926" cy="0"/>
          </a:xfrm>
          <a:prstGeom prst="line">
            <a:avLst/>
          </a:prstGeom>
          <a:noFill/>
          <a:ln w="12700">
            <a:solidFill>
              <a:srgbClr val="00FF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212848" y="2395728"/>
            <a:ext cx="184926" cy="0"/>
          </a:xfrm>
          <a:prstGeom prst="line">
            <a:avLst/>
          </a:prstGeom>
          <a:noFill/>
          <a:ln w="12700">
            <a:solidFill>
              <a:srgbClr val="00FF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395728" y="2423160"/>
            <a:ext cx="176600" cy="0"/>
          </a:xfrm>
          <a:prstGeom prst="line">
            <a:avLst/>
          </a:prstGeom>
          <a:noFill/>
          <a:ln w="12700">
            <a:solidFill>
              <a:srgbClr val="00FF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157984" y="2798064"/>
            <a:ext cx="82296" cy="82296"/>
          </a:xfrm>
          <a:prstGeom prst="ellipse">
            <a:avLst/>
          </a:prstGeom>
          <a:solidFill>
            <a:srgbClr val="00FFB0"/>
          </a:solidFill>
          <a:ln w="12700">
            <a:solidFill>
              <a:srgbClr val="00F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883664" y="2615184"/>
            <a:ext cx="82296" cy="82296"/>
          </a:xfrm>
          <a:prstGeom prst="ellipse">
            <a:avLst/>
          </a:prstGeom>
          <a:solidFill>
            <a:srgbClr val="00FFB0"/>
          </a:solidFill>
          <a:ln w="12700">
            <a:solidFill>
              <a:srgbClr val="00F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746504" y="2450592"/>
            <a:ext cx="82296" cy="82296"/>
          </a:xfrm>
          <a:prstGeom prst="ellipse">
            <a:avLst/>
          </a:prstGeom>
          <a:solidFill>
            <a:srgbClr val="00FFB0"/>
          </a:solidFill>
          <a:ln w="12700">
            <a:solidFill>
              <a:srgbClr val="00F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627632" y="2322576"/>
            <a:ext cx="82296" cy="82296"/>
          </a:xfrm>
          <a:prstGeom prst="ellipse">
            <a:avLst/>
          </a:prstGeom>
          <a:solidFill>
            <a:srgbClr val="00FFB0"/>
          </a:solidFill>
          <a:ln w="12700">
            <a:solidFill>
              <a:srgbClr val="00F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517904" y="2194560"/>
            <a:ext cx="82296" cy="82296"/>
          </a:xfrm>
          <a:prstGeom prst="ellipse">
            <a:avLst/>
          </a:prstGeom>
          <a:solidFill>
            <a:srgbClr val="00FFB0"/>
          </a:solidFill>
          <a:ln w="12700">
            <a:solidFill>
              <a:srgbClr val="00F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993392" y="2386584"/>
            <a:ext cx="82296" cy="82296"/>
          </a:xfrm>
          <a:prstGeom prst="ellipse">
            <a:avLst/>
          </a:prstGeom>
          <a:solidFill>
            <a:srgbClr val="00FFB0"/>
          </a:solidFill>
          <a:ln w="12700">
            <a:solidFill>
              <a:srgbClr val="00F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883664" y="2176272"/>
            <a:ext cx="82296" cy="82296"/>
          </a:xfrm>
          <a:prstGeom prst="ellipse">
            <a:avLst/>
          </a:prstGeom>
          <a:solidFill>
            <a:srgbClr val="00FFB0"/>
          </a:solidFill>
          <a:ln w="12700">
            <a:solidFill>
              <a:srgbClr val="00F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792224" y="2020824"/>
            <a:ext cx="82296" cy="82296"/>
          </a:xfrm>
          <a:prstGeom prst="ellipse">
            <a:avLst/>
          </a:prstGeom>
          <a:solidFill>
            <a:srgbClr val="00FFB0"/>
          </a:solidFill>
          <a:ln w="12700">
            <a:solidFill>
              <a:srgbClr val="00F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719072" y="1901952"/>
            <a:ext cx="82296" cy="82296"/>
          </a:xfrm>
          <a:prstGeom prst="ellipse">
            <a:avLst/>
          </a:prstGeom>
          <a:solidFill>
            <a:srgbClr val="00FFB0"/>
          </a:solidFill>
          <a:ln w="12700">
            <a:solidFill>
              <a:srgbClr val="00F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176272" y="2359152"/>
            <a:ext cx="82296" cy="82296"/>
          </a:xfrm>
          <a:prstGeom prst="ellipse">
            <a:avLst/>
          </a:prstGeom>
          <a:solidFill>
            <a:srgbClr val="00FFB0"/>
          </a:solidFill>
          <a:ln w="12700">
            <a:solidFill>
              <a:srgbClr val="00F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139696" y="2139696"/>
            <a:ext cx="82296" cy="82296"/>
          </a:xfrm>
          <a:prstGeom prst="ellipse">
            <a:avLst/>
          </a:prstGeom>
          <a:solidFill>
            <a:srgbClr val="00FFB0"/>
          </a:solidFill>
          <a:ln w="12700">
            <a:solidFill>
              <a:srgbClr val="00F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112264" y="1975104"/>
            <a:ext cx="82296" cy="82296"/>
          </a:xfrm>
          <a:prstGeom prst="ellipse">
            <a:avLst/>
          </a:prstGeom>
          <a:solidFill>
            <a:srgbClr val="00FFB0"/>
          </a:solidFill>
          <a:ln w="12700">
            <a:solidFill>
              <a:srgbClr val="00F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093976" y="1847088"/>
            <a:ext cx="82296" cy="82296"/>
          </a:xfrm>
          <a:prstGeom prst="ellipse">
            <a:avLst/>
          </a:prstGeom>
          <a:solidFill>
            <a:srgbClr val="00FFB0"/>
          </a:solidFill>
          <a:ln w="12700">
            <a:solidFill>
              <a:srgbClr val="00F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359152" y="2386584"/>
            <a:ext cx="82296" cy="82296"/>
          </a:xfrm>
          <a:prstGeom prst="ellipse">
            <a:avLst/>
          </a:prstGeom>
          <a:solidFill>
            <a:srgbClr val="00FFB0"/>
          </a:solidFill>
          <a:ln w="12700">
            <a:solidFill>
              <a:srgbClr val="00F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386584" y="2176272"/>
            <a:ext cx="82296" cy="82296"/>
          </a:xfrm>
          <a:prstGeom prst="ellipse">
            <a:avLst/>
          </a:prstGeom>
          <a:solidFill>
            <a:srgbClr val="00FFB0"/>
          </a:solidFill>
          <a:ln w="12700">
            <a:solidFill>
              <a:srgbClr val="00F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395728" y="2029968"/>
            <a:ext cx="82296" cy="82296"/>
          </a:xfrm>
          <a:prstGeom prst="ellipse">
            <a:avLst/>
          </a:prstGeom>
          <a:solidFill>
            <a:srgbClr val="00FFB0"/>
          </a:solidFill>
          <a:ln w="12700">
            <a:solidFill>
              <a:srgbClr val="00F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404872" y="1920240"/>
            <a:ext cx="82296" cy="82296"/>
          </a:xfrm>
          <a:prstGeom prst="ellipse">
            <a:avLst/>
          </a:prstGeom>
          <a:solidFill>
            <a:srgbClr val="00FFB0"/>
          </a:solidFill>
          <a:ln w="12700">
            <a:solidFill>
              <a:srgbClr val="00F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2523744" y="2450592"/>
            <a:ext cx="82296" cy="82296"/>
          </a:xfrm>
          <a:prstGeom prst="ellipse">
            <a:avLst/>
          </a:prstGeom>
          <a:solidFill>
            <a:srgbClr val="00FFB0"/>
          </a:solidFill>
          <a:ln w="12700">
            <a:solidFill>
              <a:srgbClr val="00F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2596896" y="2267712"/>
            <a:ext cx="82296" cy="82296"/>
          </a:xfrm>
          <a:prstGeom prst="ellipse">
            <a:avLst/>
          </a:prstGeom>
          <a:solidFill>
            <a:srgbClr val="00FFB0"/>
          </a:solidFill>
          <a:ln w="12700">
            <a:solidFill>
              <a:srgbClr val="00F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2651760" y="2139696"/>
            <a:ext cx="82296" cy="82296"/>
          </a:xfrm>
          <a:prstGeom prst="ellipse">
            <a:avLst/>
          </a:prstGeom>
          <a:solidFill>
            <a:srgbClr val="00FFB0"/>
          </a:solidFill>
          <a:ln w="12700">
            <a:solidFill>
              <a:srgbClr val="00F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2688336" y="2048256"/>
            <a:ext cx="82296" cy="82296"/>
          </a:xfrm>
          <a:prstGeom prst="ellipse">
            <a:avLst/>
          </a:prstGeom>
          <a:solidFill>
            <a:srgbClr val="00FFB0"/>
          </a:solidFill>
          <a:ln w="12700">
            <a:solidFill>
              <a:srgbClr val="00F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11480" y="3172968"/>
            <a:ext cx="3977640" cy="566928"/>
          </a:xfrm>
          <a:prstGeom prst="rect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57200" y="31821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Detected: "HELLO"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3063240" y="3291840"/>
            <a:ext cx="1170432" cy="11887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3063240" y="3291840"/>
            <a:ext cx="1019556" cy="118872"/>
          </a:xfrm>
          <a:prstGeom prst="rect">
            <a:avLst/>
          </a:prstGeom>
          <a:solidFill>
            <a:srgbClr val="00FFB0">
              <a:alpha val="90000"/>
            </a:srgbClr>
          </a:solidFill>
          <a:ln w="12700">
            <a:solidFill>
              <a:srgbClr val="00FFB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622986" y="3406139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</a:rPr>
              <a:t>87%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063240" y="3438144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</a:rPr>
              <a:t>Confidence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57200" y="37673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AA"/>
                </a:solidFill>
              </a:rPr>
              <a:t>Sign history: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508760" y="3767328"/>
            <a:ext cx="475488" cy="228600"/>
          </a:xfrm>
          <a:prstGeom prst="roundRect">
            <a:avLst>
              <a:gd name="adj" fmla="val 24000"/>
            </a:avLst>
          </a:prstGeom>
          <a:solidFill>
            <a:srgbClr val="AAAACC">
              <a:alpha val="80000"/>
            </a:srgbClr>
          </a:solidFill>
          <a:ln w="12700">
            <a:solidFill>
              <a:srgbClr val="AAAAC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508760" y="3767328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4A72"/>
                </a:solidFill>
              </a:rPr>
              <a:t>A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039112" y="3767328"/>
            <a:ext cx="475488" cy="228600"/>
          </a:xfrm>
          <a:prstGeom prst="roundRect">
            <a:avLst>
              <a:gd name="adj" fmla="val 24000"/>
            </a:avLst>
          </a:prstGeom>
          <a:solidFill>
            <a:srgbClr val="AAAACC">
              <a:alpha val="80000"/>
            </a:srgbClr>
          </a:solidFill>
          <a:ln w="12700">
            <a:solidFill>
              <a:srgbClr val="AAAAC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2039112" y="3767328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4A72"/>
                </a:solidFill>
              </a:rPr>
              <a:t>B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569464" y="3767328"/>
            <a:ext cx="475488" cy="228600"/>
          </a:xfrm>
          <a:prstGeom prst="roundRect">
            <a:avLst>
              <a:gd name="adj" fmla="val 24000"/>
            </a:avLst>
          </a:prstGeom>
          <a:solidFill>
            <a:srgbClr val="AAAACC">
              <a:alpha val="80000"/>
            </a:srgbClr>
          </a:solidFill>
          <a:ln w="12700">
            <a:solidFill>
              <a:srgbClr val="AAAAC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2569464" y="3767328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4A72"/>
                </a:solidFill>
              </a:rPr>
              <a:t>C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099816" y="3767328"/>
            <a:ext cx="475488" cy="228600"/>
          </a:xfrm>
          <a:prstGeom prst="roundRect">
            <a:avLst>
              <a:gd name="adj" fmla="val 24000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3099816" y="3767328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</a:rPr>
              <a:t>HELLO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630168" y="3767328"/>
            <a:ext cx="475488" cy="228600"/>
          </a:xfrm>
          <a:prstGeom prst="roundRect">
            <a:avLst>
              <a:gd name="adj" fmla="val 24000"/>
            </a:avLst>
          </a:prstGeom>
          <a:solidFill>
            <a:srgbClr val="AAAACC">
              <a:alpha val="80000"/>
            </a:srgbClr>
          </a:solidFill>
          <a:ln w="12700">
            <a:solidFill>
              <a:srgbClr val="AAAAC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3630168" y="3767328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4A72"/>
                </a:solidFill>
              </a:rPr>
              <a:t>YES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11480" y="4069080"/>
            <a:ext cx="3977640" cy="347472"/>
          </a:xfrm>
          <a:prstGeom prst="roundRect">
            <a:avLst>
              <a:gd name="adj" fmla="val 15789"/>
            </a:avLst>
          </a:prstGeom>
          <a:solidFill>
            <a:srgbClr val="10B981">
              <a:alpha val="8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457200" y="4069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4E3B"/>
                </a:solidFill>
              </a:rPr>
              <a:t>🔊  Speaking aloud: "Hello"  ·  Volume: ████░  ·  Voice: Natural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663440" y="1143000"/>
            <a:ext cx="4297680" cy="768096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FFFFF">
                <a:alpha val="60000"/>
              </a:srgbClr>
            </a:solidFill>
            <a:prstDash val="solid"/>
          </a:ln>
          <a:effectLst>
            <a:outerShdw blurRad="279400" dist="76200" dir="8700000" algn="bl" rotWithShape="0">
              <a:srgbClr val="5B21B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4773168" y="1307592"/>
            <a:ext cx="438912" cy="438912"/>
          </a:xfrm>
          <a:prstGeom prst="ellipse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773168" y="1307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1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5321808" y="12344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040"/>
                </a:solidFill>
              </a:rPr>
              <a:t>Point webcam at your hand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5321808" y="15453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72"/>
                </a:solidFill>
              </a:rPr>
              <a:t>Any ASL sign — A to Z or common phrases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4663440" y="2029968"/>
            <a:ext cx="4297680" cy="768096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FFFFF">
                <a:alpha val="60000"/>
              </a:srgbClr>
            </a:solidFill>
            <a:prstDash val="solid"/>
          </a:ln>
          <a:effectLst>
            <a:outerShdw blurRad="279400" dist="76200" dir="8700000" algn="bl" rotWithShape="0">
              <a:srgbClr val="5B21B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4773168" y="2194560"/>
            <a:ext cx="438912" cy="438912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4773168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2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5321808" y="21214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040"/>
                </a:solidFill>
              </a:rPr>
              <a:t>MediaPipe maps 21 landmarks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5321808" y="24323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72"/>
                </a:solidFill>
              </a:rPr>
              <a:t>Sub-30ms skeleton extraction at 30 FPS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663440" y="2916936"/>
            <a:ext cx="4297680" cy="768096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FFFFF">
                <a:alpha val="60000"/>
              </a:srgbClr>
            </a:solidFill>
            <a:prstDash val="solid"/>
          </a:ln>
          <a:effectLst>
            <a:outerShdw blurRad="279400" dist="76200" dir="8700000" algn="bl" rotWithShape="0">
              <a:srgbClr val="5B21B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4773168" y="3081528"/>
            <a:ext cx="438912" cy="438912"/>
          </a:xfrm>
          <a:prstGeom prst="ellipse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4773168" y="3081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3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5321808" y="300837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040"/>
                </a:solidFill>
              </a:rPr>
              <a:t>CNN-LSTM classifies the sign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5321808" y="33192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72"/>
                </a:solidFill>
              </a:rPr>
              <a:t>87%+ confidence with temporal smoothing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4663440" y="3803904"/>
            <a:ext cx="4297680" cy="768096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FFFFF">
                <a:alpha val="60000"/>
              </a:srgbClr>
            </a:solidFill>
            <a:prstDash val="solid"/>
          </a:ln>
          <a:effectLst>
            <a:outerShdw blurRad="279400" dist="76200" dir="8700000" algn="bl" rotWithShape="0">
              <a:srgbClr val="5B21B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4773168" y="3968496"/>
            <a:ext cx="438912" cy="438912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4773168" y="3968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4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5321808" y="389534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040"/>
                </a:solidFill>
              </a:rPr>
              <a:t>Text + voice output instantly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5321808" y="42062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72"/>
                </a:solidFill>
              </a:rPr>
              <a:t>Sign history logged, TTS speaks aloud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4663440" y="4663440"/>
            <a:ext cx="1353312" cy="384048"/>
          </a:xfrm>
          <a:prstGeom prst="rect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FFFFFF">
                <a:alpha val="60000"/>
              </a:srgbClr>
            </a:solidFill>
            <a:prstDash val="solid"/>
          </a:ln>
          <a:effectLst>
            <a:outerShdw blurRad="279400" dist="76200" dir="8700000" algn="bl" rotWithShape="0">
              <a:srgbClr val="5B21B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4663440" y="466344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&lt;200ms</a:t>
            </a:r>
            <a:endParaRPr lang="en-US" sz="1300" dirty="0"/>
          </a:p>
        </p:txBody>
      </p:sp>
      <p:sp>
        <p:nvSpPr>
          <p:cNvPr id="97" name="Text 95"/>
          <p:cNvSpPr/>
          <p:nvPr/>
        </p:nvSpPr>
        <p:spPr>
          <a:xfrm>
            <a:off x="4663440" y="487375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AA"/>
                </a:solidFill>
              </a:rPr>
              <a:t>end-to-end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6126480" y="4663440"/>
            <a:ext cx="1353312" cy="384048"/>
          </a:xfrm>
          <a:prstGeom prst="rect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FFFFFF">
                <a:alpha val="60000"/>
              </a:srgbClr>
            </a:solidFill>
            <a:prstDash val="solid"/>
          </a:ln>
          <a:effectLst>
            <a:outerShdw blurRad="279400" dist="76200" dir="8700000" algn="bl" rotWithShape="0">
              <a:srgbClr val="5B21B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6126480" y="466344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30 FPS</a:t>
            </a:r>
            <a:endParaRPr lang="en-US" sz="1300" dirty="0"/>
          </a:p>
        </p:txBody>
      </p:sp>
      <p:sp>
        <p:nvSpPr>
          <p:cNvPr id="100" name="Text 98"/>
          <p:cNvSpPr/>
          <p:nvPr/>
        </p:nvSpPr>
        <p:spPr>
          <a:xfrm>
            <a:off x="6126480" y="487375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AA"/>
                </a:solidFill>
              </a:rPr>
              <a:t>processing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7589520" y="4663440"/>
            <a:ext cx="1353312" cy="384048"/>
          </a:xfrm>
          <a:prstGeom prst="rect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FFFFFF">
                <a:alpha val="60000"/>
              </a:srgbClr>
            </a:solidFill>
            <a:prstDash val="solid"/>
          </a:ln>
          <a:effectLst>
            <a:outerShdw blurRad="279400" dist="76200" dir="8700000" algn="bl" rotWithShape="0">
              <a:srgbClr val="5B21B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7589520" y="466344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20+ signs</a:t>
            </a:r>
            <a:endParaRPr lang="en-US" sz="1300" dirty="0"/>
          </a:p>
        </p:txBody>
      </p:sp>
      <p:sp>
        <p:nvSpPr>
          <p:cNvPr id="103" name="Text 101"/>
          <p:cNvSpPr/>
          <p:nvPr/>
        </p:nvSpPr>
        <p:spPr>
          <a:xfrm>
            <a:off x="7589520" y="487375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AA"/>
                </a:solidFill>
              </a:rPr>
              <a:t>vocabulary</a:t>
            </a:r>
            <a:endParaRPr lang="en-US" sz="800" dirty="0"/>
          </a:p>
        </p:txBody>
      </p:sp>
      <p:pic>
        <p:nvPicPr>
          <p:cNvPr id="104" name="WhatsApp Video 2026-03-24 at 19.22.30.mp4">
            <a:hlinkClick r:id="" action="ppaction://media"/>
            <a:extLst>
              <a:ext uri="{FF2B5EF4-FFF2-40B4-BE49-F238E27FC236}">
                <a16:creationId xmlns:a16="http://schemas.microsoft.com/office/drawing/2014/main" id="{CB31B22B-B2C9-98DB-7BCA-725516A8E79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80131" y="1143000"/>
            <a:ext cx="4391869" cy="3560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916" fill="hold"/>
                                        <p:tgtEl>
                                          <p:spTgt spid="10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"/>
            <a:ext cx="9144000" cy="5143500"/>
          </a:xfrm>
          <a:prstGeom prst="rect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65" name="Text 2">
            <a:extLst>
              <a:ext uri="{FF2B5EF4-FFF2-40B4-BE49-F238E27FC236}">
                <a16:creationId xmlns:a16="http://schemas.microsoft.com/office/drawing/2014/main" id="{E543CCFA-97A8-92F7-2491-C9B0B31EC97E}"/>
              </a:ext>
            </a:extLst>
          </p:cNvPr>
          <p:cNvSpPr/>
          <p:nvPr/>
        </p:nvSpPr>
        <p:spPr>
          <a:xfrm>
            <a:off x="411480" y="854436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88AA"/>
                </a:solidFill>
              </a:rPr>
              <a:t>Camera → Hand Tracking → ML Classifier → TTS → Gradio Web UI</a:t>
            </a:r>
            <a:endParaRPr lang="en-US" sz="1050" dirty="0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F569DFFB-2196-59DA-A045-78AE3768E0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035" y="1328321"/>
            <a:ext cx="8915273" cy="994940"/>
          </a:xfrm>
          <a:prstGeom prst="rect">
            <a:avLst/>
          </a:prstGeom>
        </p:spPr>
      </p:pic>
      <p:sp>
        <p:nvSpPr>
          <p:cNvPr id="89" name="Shape 4">
            <a:extLst>
              <a:ext uri="{FF2B5EF4-FFF2-40B4-BE49-F238E27FC236}">
                <a16:creationId xmlns:a16="http://schemas.microsoft.com/office/drawing/2014/main" id="{6B917DCE-4548-FE34-B053-0572C1A6A340}"/>
              </a:ext>
            </a:extLst>
          </p:cNvPr>
          <p:cNvSpPr/>
          <p:nvPr/>
        </p:nvSpPr>
        <p:spPr>
          <a:xfrm>
            <a:off x="256736" y="3991708"/>
            <a:ext cx="8649872" cy="849713"/>
          </a:xfrm>
          <a:prstGeom prst="rect">
            <a:avLst/>
          </a:prstGeom>
          <a:solidFill>
            <a:srgbClr val="FFFFFF">
              <a:alpha val="90000"/>
            </a:srgbClr>
          </a:solidFill>
          <a:ln w="22860">
            <a:solidFill>
              <a:srgbClr val="06B6D4">
                <a:alpha val="75000"/>
              </a:srgbClr>
            </a:solidFill>
            <a:prstDash val="solid"/>
          </a:ln>
          <a:effectLst>
            <a:outerShdw blurRad="279400" dist="76200" dir="8700000" algn="bl" rotWithShape="0">
              <a:srgbClr val="5B21B6">
                <a:alpha val="10000"/>
              </a:srgbClr>
            </a:outerShdw>
          </a:effectLst>
        </p:spPr>
        <p:txBody>
          <a:bodyPr/>
          <a:lstStyle/>
          <a:p>
            <a:r>
              <a:rPr lang="en-US" altLang="en-US" sz="12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✨ </a:t>
            </a:r>
            <a:r>
              <a:rPr lang="en-GB" sz="1200" b="1" dirty="0">
                <a:solidFill>
                  <a:schemeClr val="accent1">
                    <a:lumMod val="75000"/>
                  </a:schemeClr>
                </a:solidFill>
              </a:rPr>
              <a:t>Phase 2: Integration with Claude 3.5 Sonnet ‘Empathy Engine’</a:t>
            </a:r>
          </a:p>
          <a:p>
            <a:endParaRPr lang="en-GB" sz="11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en-US" sz="11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-webkit-standard"/>
              </a:rPr>
              <a:t>Translating raw ASL gloss into fluent, context-aware British English - adapting tone and vocabulary for social settings, professional meetings, and daily life.</a:t>
            </a:r>
            <a:endParaRPr lang="en-US" altLang="en-US" sz="11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endParaRPr lang="en-GB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98" name="Table 97">
            <a:extLst>
              <a:ext uri="{FF2B5EF4-FFF2-40B4-BE49-F238E27FC236}">
                <a16:creationId xmlns:a16="http://schemas.microsoft.com/office/drawing/2014/main" id="{D1942135-3220-5516-F3C8-41E21B6CF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05781"/>
              </p:ext>
            </p:extLst>
          </p:nvPr>
        </p:nvGraphicFramePr>
        <p:xfrm>
          <a:off x="2604545" y="2568546"/>
          <a:ext cx="4223289" cy="13360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7763">
                  <a:extLst>
                    <a:ext uri="{9D8B030D-6E8A-4147-A177-3AD203B41FA5}">
                      <a16:colId xmlns:a16="http://schemas.microsoft.com/office/drawing/2014/main" val="1522750455"/>
                    </a:ext>
                  </a:extLst>
                </a:gridCol>
                <a:gridCol w="1200715">
                  <a:extLst>
                    <a:ext uri="{9D8B030D-6E8A-4147-A177-3AD203B41FA5}">
                      <a16:colId xmlns:a16="http://schemas.microsoft.com/office/drawing/2014/main" val="1685478842"/>
                    </a:ext>
                  </a:extLst>
                </a:gridCol>
                <a:gridCol w="1614811">
                  <a:extLst>
                    <a:ext uri="{9D8B030D-6E8A-4147-A177-3AD203B41FA5}">
                      <a16:colId xmlns:a16="http://schemas.microsoft.com/office/drawing/2014/main" val="2561523072"/>
                    </a:ext>
                  </a:extLst>
                </a:gridCol>
              </a:tblGrid>
              <a:tr h="245177">
                <a:tc>
                  <a:txBody>
                    <a:bodyPr/>
                    <a:lstStyle/>
                    <a:p>
                      <a:pPr algn="ctr"/>
                      <a:r>
                        <a:rPr lang="en-GB" sz="1600" b="0" i="0" u="none" strike="noStrike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🖐️</a:t>
                      </a:r>
                      <a:endParaRPr lang="en-US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60455" marR="60455" marT="30227" marB="302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Hello</a:t>
                      </a:r>
                    </a:p>
                  </a:txBody>
                  <a:tcPr marL="60455" marR="60455" marT="30227" marB="302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i="0" u="none" strike="noStrike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(All fingers open)</a:t>
                      </a:r>
                      <a:endParaRPr lang="en-US" sz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60455" marR="60455" marT="30227" marB="30227"/>
                </a:tc>
                <a:extLst>
                  <a:ext uri="{0D108BD9-81ED-4DB2-BD59-A6C34878D82A}">
                    <a16:rowId xmlns:a16="http://schemas.microsoft.com/office/drawing/2014/main" val="174932991"/>
                  </a:ext>
                </a:extLst>
              </a:tr>
              <a:tr h="245177">
                <a:tc>
                  <a:txBody>
                    <a:bodyPr/>
                    <a:lstStyle/>
                    <a:p>
                      <a:pPr algn="ctr"/>
                      <a:r>
                        <a:rPr lang="en-GB" sz="16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✊</a:t>
                      </a:r>
                      <a:endParaRPr lang="en-US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60455" marR="60455" marT="30227" marB="302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Yes</a:t>
                      </a:r>
                    </a:p>
                  </a:txBody>
                  <a:tcPr marL="60455" marR="60455" marT="30227" marB="302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(Closed fist)</a:t>
                      </a:r>
                      <a:endParaRPr lang="en-US" sz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60455" marR="60455" marT="30227" marB="30227"/>
                </a:tc>
                <a:extLst>
                  <a:ext uri="{0D108BD9-81ED-4DB2-BD59-A6C34878D82A}">
                    <a16:rowId xmlns:a16="http://schemas.microsoft.com/office/drawing/2014/main" val="1985142820"/>
                  </a:ext>
                </a:extLst>
              </a:tr>
              <a:tr h="245177">
                <a:tc>
                  <a:txBody>
                    <a:bodyPr/>
                    <a:lstStyle/>
                    <a:p>
                      <a:pPr algn="ctr"/>
                      <a:r>
                        <a:rPr lang="en-GB" sz="1600" b="0" i="0" u="none" strike="noStrike" kern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🤙</a:t>
                      </a:r>
                      <a:endParaRPr lang="en-US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60455" marR="60455" marT="30227" marB="302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Phone</a:t>
                      </a:r>
                    </a:p>
                  </a:txBody>
                  <a:tcPr marL="60455" marR="60455" marT="30227" marB="302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(Thumb + Pinky)</a:t>
                      </a:r>
                      <a:endParaRPr lang="en-US" sz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60455" marR="60455" marT="30227" marB="30227"/>
                </a:tc>
                <a:extLst>
                  <a:ext uri="{0D108BD9-81ED-4DB2-BD59-A6C34878D82A}">
                    <a16:rowId xmlns:a16="http://schemas.microsoft.com/office/drawing/2014/main" val="191695122"/>
                  </a:ext>
                </a:extLst>
              </a:tr>
              <a:tr h="423183">
                <a:tc>
                  <a:txBody>
                    <a:bodyPr/>
                    <a:lstStyle/>
                    <a:p>
                      <a:pPr algn="ctr"/>
                      <a:r>
                        <a:rPr lang="en-GB" sz="1600" b="0" i="0" u="none" strike="noStrike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🤟</a:t>
                      </a:r>
                      <a:endParaRPr lang="en-US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60455" marR="60455" marT="30227" marB="302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I love you</a:t>
                      </a:r>
                    </a:p>
                  </a:txBody>
                  <a:tcPr marL="60455" marR="60455" marT="30227" marB="302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i="0" u="none" strike="noStrike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(Thumb + Index + Pinky)</a:t>
                      </a:r>
                      <a:endParaRPr lang="en-US" sz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60455" marR="60455" marT="30227" marB="30227"/>
                </a:tc>
                <a:extLst>
                  <a:ext uri="{0D108BD9-81ED-4DB2-BD59-A6C34878D82A}">
                    <a16:rowId xmlns:a16="http://schemas.microsoft.com/office/drawing/2014/main" val="7400973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5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Solved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88AA"/>
                </a:solidFill>
              </a:rPr>
              <a:t>Four engineering decisions that made real-time ASL interpretation feasible in 2 hours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37160" y="978408"/>
            <a:ext cx="4434840" cy="201168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160520" cy="1737360"/>
          </a:xfrm>
          <a:prstGeom prst="rect">
            <a:avLst/>
          </a:prstGeom>
          <a:solidFill>
            <a:srgbClr val="FFFFFF">
              <a:alpha val="90000"/>
            </a:srgbClr>
          </a:solidFill>
          <a:ln w="22860">
            <a:solidFill>
              <a:srgbClr val="06B6D4">
                <a:alpha val="75000"/>
              </a:srgbClr>
            </a:solidFill>
            <a:prstDash val="solid"/>
          </a:ln>
          <a:effectLst>
            <a:outerShdw blurRad="279400" dist="76200" dir="8700000" algn="bl" rotWithShape="0">
              <a:srgbClr val="5B21B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4160520" cy="320040"/>
          </a:xfrm>
          <a:prstGeom prst="rect">
            <a:avLst/>
          </a:prstGeom>
          <a:solidFill>
            <a:srgbClr val="06B6D4">
              <a:alpha val="82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115568"/>
            <a:ext cx="29123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bg1"/>
                </a:solidFill>
              </a:rPr>
              <a:t>👁  MediaPipe Hands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136392" y="1152144"/>
            <a:ext cx="1261872" cy="246888"/>
          </a:xfrm>
          <a:prstGeom prst="roundRect">
            <a:avLst>
              <a:gd name="adj" fmla="val 22222"/>
            </a:avLst>
          </a:prstGeom>
          <a:solidFill>
            <a:srgbClr val="06B6D4">
              <a:alpha val="80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36392" y="115214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bg1"/>
                </a:solidFill>
              </a:rPr>
              <a:t>Computer Vision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11480" y="1572768"/>
            <a:ext cx="73152" cy="7315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468209"/>
            <a:ext cx="3776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72"/>
                </a:solidFill>
              </a:rPr>
              <a:t>21 3D landmarks per hand — wrist, knuckles, fingertips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883664"/>
            <a:ext cx="73152" cy="7315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1779105"/>
            <a:ext cx="3776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72"/>
                </a:solidFill>
              </a:rPr>
              <a:t>0.7 detection / 0.5 tracking confidence thresholds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194560"/>
            <a:ext cx="73152" cy="7315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090001"/>
            <a:ext cx="3776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72"/>
                </a:solidFill>
              </a:rPr>
              <a:t>Annotated frame output ready for Gradio video feed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505456"/>
            <a:ext cx="73152" cy="7315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2400897"/>
            <a:ext cx="3776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72"/>
                </a:solidFill>
              </a:rPr>
              <a:t>Processes every frame — no sampling needed at 30 FPS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978408"/>
            <a:ext cx="4434840" cy="20116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1115568"/>
            <a:ext cx="4160520" cy="1737360"/>
          </a:xfrm>
          <a:prstGeom prst="rect">
            <a:avLst/>
          </a:prstGeom>
          <a:solidFill>
            <a:srgbClr val="FFFFFF">
              <a:alpha val="90000"/>
            </a:srgbClr>
          </a:solidFill>
          <a:ln w="22860">
            <a:solidFill>
              <a:srgbClr val="7C3AED">
                <a:alpha val="75000"/>
              </a:srgbClr>
            </a:solidFill>
            <a:prstDash val="solid"/>
          </a:ln>
          <a:effectLst>
            <a:outerShdw blurRad="279400" dist="76200" dir="8700000" algn="bl" rotWithShape="0">
              <a:srgbClr val="5B21B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1115568"/>
            <a:ext cx="4160520" cy="320040"/>
          </a:xfrm>
          <a:prstGeom prst="rect">
            <a:avLst/>
          </a:prstGeom>
          <a:solidFill>
            <a:srgbClr val="7C3AED">
              <a:alpha val="82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18888" y="1115568"/>
            <a:ext cx="29123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bg1"/>
                </a:solidFill>
              </a:rPr>
              <a:t>🧠  CNN-LSTM Classifier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571232" y="1152144"/>
            <a:ext cx="1261872" cy="246888"/>
          </a:xfrm>
          <a:prstGeom prst="roundRect">
            <a:avLst>
              <a:gd name="adj" fmla="val 22222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71232" y="115214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bg1"/>
                </a:solidFill>
              </a:rPr>
              <a:t>Machine Learning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46320" y="1572768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83480" y="1478148"/>
            <a:ext cx="3776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72"/>
                </a:solidFill>
              </a:rPr>
              <a:t>Sliding-window approach: 30-frame sequence per prediction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188366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83480" y="1789044"/>
            <a:ext cx="3776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72"/>
                </a:solidFill>
              </a:rPr>
              <a:t>Spatial CNN extracts per-frame hand shape features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2194560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83480" y="2099940"/>
            <a:ext cx="3776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72"/>
                </a:solidFill>
              </a:rPr>
              <a:t>Temporal LSTM captures motion &amp; transition patterns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250545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83480" y="2410836"/>
            <a:ext cx="3776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72"/>
                </a:solidFill>
              </a:rPr>
              <a:t>Rule-based fallback ensures demo never goes blank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37160" y="2880360"/>
            <a:ext cx="4434840" cy="201168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74320" y="3017520"/>
            <a:ext cx="4160520" cy="1737360"/>
          </a:xfrm>
          <a:prstGeom prst="rect">
            <a:avLst/>
          </a:prstGeom>
          <a:solidFill>
            <a:srgbClr val="FFFFFF">
              <a:alpha val="90000"/>
            </a:srgbClr>
          </a:solidFill>
          <a:ln w="22860">
            <a:solidFill>
              <a:srgbClr val="10B981">
                <a:alpha val="75000"/>
              </a:srgbClr>
            </a:solidFill>
            <a:prstDash val="solid"/>
          </a:ln>
          <a:effectLst>
            <a:outerShdw blurRad="279400" dist="76200" dir="8700000" algn="bl" rotWithShape="0">
              <a:srgbClr val="5B21B6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274320" y="3017520"/>
            <a:ext cx="4160520" cy="320040"/>
          </a:xfrm>
          <a:prstGeom prst="rect">
            <a:avLst/>
          </a:prstGeom>
          <a:solidFill>
            <a:srgbClr val="10B981">
              <a:alpha val="82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84048" y="3017520"/>
            <a:ext cx="29123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bg1"/>
                </a:solidFill>
              </a:rPr>
              <a:t>🔊  pyttsx3 TTS Engine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136392" y="3054096"/>
            <a:ext cx="1261872" cy="246888"/>
          </a:xfrm>
          <a:prstGeom prst="roundRect">
            <a:avLst>
              <a:gd name="adj" fmla="val 22222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136392" y="3054096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bg1"/>
                </a:solidFill>
              </a:rPr>
              <a:t>Audio Synthesis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11480" y="34747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8640" y="3380100"/>
            <a:ext cx="3776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72"/>
                </a:solidFill>
              </a:rPr>
              <a:t>Zero-latency: local synthesis, no API call needed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11480" y="378561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48640" y="3690996"/>
            <a:ext cx="3776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72"/>
                </a:solidFill>
              </a:rPr>
              <a:t>Threaded execution — UI never blocks during speech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11480" y="409651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48640" y="4001892"/>
            <a:ext cx="3776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72"/>
                </a:solidFill>
              </a:rPr>
              <a:t>Debounced: only speaks after 1.5s sign stability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11480" y="440740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48640" y="4312788"/>
            <a:ext cx="3776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72"/>
                </a:solidFill>
              </a:rPr>
              <a:t>Configurable voice rate, pitch, and engine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0" y="2880360"/>
            <a:ext cx="4434840" cy="201168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709160" y="3017520"/>
            <a:ext cx="4160520" cy="1737360"/>
          </a:xfrm>
          <a:prstGeom prst="rect">
            <a:avLst/>
          </a:prstGeom>
          <a:solidFill>
            <a:srgbClr val="FFFFFF">
              <a:alpha val="90000"/>
            </a:srgbClr>
          </a:solidFill>
          <a:ln w="22860">
            <a:solidFill>
              <a:srgbClr val="F59E0B">
                <a:alpha val="75000"/>
              </a:srgbClr>
            </a:solidFill>
            <a:prstDash val="solid"/>
          </a:ln>
          <a:effectLst>
            <a:outerShdw blurRad="279400" dist="76200" dir="8700000" algn="bl" rotWithShape="0">
              <a:srgbClr val="5B21B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709160" y="3017520"/>
            <a:ext cx="4160520" cy="320040"/>
          </a:xfrm>
          <a:prstGeom prst="rect">
            <a:avLst/>
          </a:prstGeom>
          <a:solidFill>
            <a:srgbClr val="F59E0B">
              <a:alpha val="82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18888" y="3017520"/>
            <a:ext cx="29123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bg1"/>
                </a:solidFill>
              </a:rPr>
              <a:t>⚡  Integration Pipeline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571232" y="3054096"/>
            <a:ext cx="1261872" cy="246888"/>
          </a:xfrm>
          <a:prstGeom prst="roundRect">
            <a:avLst>
              <a:gd name="adj" fmla="val 22222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571232" y="3054096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bg1"/>
                </a:solidFill>
              </a:rPr>
              <a:t>Person 4 · Glue Layer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54" name="Text 52"/>
          <p:cNvSpPr/>
          <p:nvPr/>
        </p:nvSpPr>
        <p:spPr>
          <a:xfrm>
            <a:off x="4983480" y="3419856"/>
            <a:ext cx="3776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46320" y="363931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001174" y="3541298"/>
            <a:ext cx="3776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72"/>
                </a:solidFill>
              </a:rPr>
              <a:t>Logging + error handling at every pipeline boundary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846320" y="395020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001174" y="3852194"/>
            <a:ext cx="3776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72"/>
                </a:solidFill>
              </a:rPr>
              <a:t>Frame → Landmarks → Prediction in &lt; 200ms total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846320" y="426110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001174" y="4163090"/>
            <a:ext cx="3776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72"/>
                </a:solidFill>
              </a:rPr>
              <a:t>Demo preparation checklist ensures 100% readiness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84048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350F"/>
                </a:solidFill>
              </a:rPr>
              <a:t>🛡  Risk Mitigation: Mock components, graceful fallbacks, and comprehensive logging ensure a flawless demo even under failure conditions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8308"/>
            <a:ext cx="9144000" cy="5143500"/>
          </a:xfrm>
          <a:prstGeom prst="rect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Meet Every Criterion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543800" y="256032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43800" y="2560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100 PTS TOTAL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91440" y="914400"/>
            <a:ext cx="4526280" cy="2148840"/>
          </a:xfrm>
          <a:prstGeom prst="ellipse">
            <a:avLst/>
          </a:prstGeom>
          <a:solidFill>
            <a:srgbClr val="3B82F6">
              <a:alpha val="13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4160520" cy="1783080"/>
          </a:xfrm>
          <a:prstGeom prst="rect">
            <a:avLst/>
          </a:prstGeom>
          <a:solidFill>
            <a:srgbClr val="FFFFFF">
              <a:alpha val="92000"/>
            </a:srgbClr>
          </a:solidFill>
          <a:ln w="22860">
            <a:solidFill>
              <a:srgbClr val="3B82F6">
                <a:alpha val="75000"/>
              </a:srgbClr>
            </a:solidFill>
            <a:prstDash val="solid"/>
          </a:ln>
          <a:effectLst>
            <a:outerShdw blurRad="279400" dist="76200" dir="8700000" algn="bl" rotWithShape="0">
              <a:srgbClr val="5B21B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776472" y="1188720"/>
            <a:ext cx="566928" cy="566928"/>
          </a:xfrm>
          <a:prstGeom prst="ellipse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76472" y="118872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30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776472" y="15087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chemeClr val="bg1"/>
                </a:solidFill>
              </a:rPr>
              <a:t>pts</a:t>
            </a:r>
          </a:p>
        </p:txBody>
      </p:sp>
      <p:sp>
        <p:nvSpPr>
          <p:cNvPr id="12" name="Text 10"/>
          <p:cNvSpPr/>
          <p:nvPr/>
        </p:nvSpPr>
        <p:spPr>
          <a:xfrm>
            <a:off x="438912" y="1188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⚙️  Technical Execution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1548602"/>
            <a:ext cx="4069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85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Full ML Pipeline:</a:t>
            </a:r>
            <a:r>
              <a:rPr kumimoji="0" lang="en-US" altLang="en-US" sz="85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 Successfully integrated</a:t>
            </a:r>
            <a:br>
              <a:rPr kumimoji="0" lang="en-US" altLang="en-US" sz="85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altLang="en-US" sz="8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MediaPipe</a:t>
            </a:r>
            <a:r>
              <a:rPr kumimoji="0" lang="en-US" altLang="en-US" sz="85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 → CNN-LSTM → pyttsx3 → </a:t>
            </a:r>
            <a:r>
              <a:rPr kumimoji="0" lang="en-US" altLang="en-US" sz="8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Gradio</a:t>
            </a:r>
            <a:r>
              <a:rPr kumimoji="0" lang="en-US" altLang="en-US" sz="85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in under 2 hours.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85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85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Demo Reliability:</a:t>
            </a:r>
            <a:r>
              <a:rPr kumimoji="0" lang="en-US" altLang="en-US" sz="85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 Built-in mock fallbacks to ensure a flawless live performance.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85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85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High Performance:</a:t>
            </a:r>
            <a:r>
              <a:rPr kumimoji="0" lang="en-US" altLang="en-US" sz="85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 Achieved sub-200ms end-to-end frame processing for a fluid experience.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85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85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Clean Architecture:</a:t>
            </a:r>
            <a:r>
              <a:rPr kumimoji="0" lang="en-US" altLang="en-US" sz="85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 </a:t>
            </a:r>
            <a:r>
              <a:rPr kumimoji="0" lang="en-US" altLang="en-US" sz="8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Organised</a:t>
            </a:r>
            <a:r>
              <a:rPr kumimoji="0" lang="en-US" altLang="en-US" sz="85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with strictly typed interfaces between all four team components.</a:t>
            </a:r>
            <a:endParaRPr lang="en-US" sz="8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26280" y="914400"/>
            <a:ext cx="4526280" cy="2148840"/>
          </a:xfrm>
          <a:prstGeom prst="ellipse">
            <a:avLst/>
          </a:prstGeom>
          <a:solidFill>
            <a:srgbClr val="7C3AED">
              <a:alpha val="13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09160" y="1097280"/>
            <a:ext cx="4160520" cy="1783080"/>
          </a:xfrm>
          <a:prstGeom prst="rect">
            <a:avLst/>
          </a:prstGeom>
          <a:solidFill>
            <a:srgbClr val="FFFFFF">
              <a:alpha val="92000"/>
            </a:srgbClr>
          </a:solidFill>
          <a:ln w="22860">
            <a:solidFill>
              <a:srgbClr val="7C3AED">
                <a:alpha val="75000"/>
              </a:srgbClr>
            </a:solidFill>
            <a:prstDash val="solid"/>
          </a:ln>
          <a:effectLst>
            <a:outerShdw blurRad="279400" dist="76200" dir="8700000" algn="bl" rotWithShape="0">
              <a:srgbClr val="5B21B6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211312" y="1188720"/>
            <a:ext cx="566928" cy="566928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11312" y="118872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25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11312" y="15087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chemeClr val="bg1"/>
                </a:solidFill>
              </a:rPr>
              <a:t>pts</a:t>
            </a:r>
          </a:p>
        </p:txBody>
      </p:sp>
      <p:sp>
        <p:nvSpPr>
          <p:cNvPr id="19" name="Text 17"/>
          <p:cNvSpPr/>
          <p:nvPr/>
        </p:nvSpPr>
        <p:spPr>
          <a:xfrm>
            <a:off x="4873752" y="1188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🌍  Impact Potential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752" y="1484593"/>
            <a:ext cx="3337560" cy="1409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5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Global Reach:</a:t>
            </a:r>
            <a:r>
              <a:rPr lang="en-US" altLang="en-US" sz="8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 Directly addresses communication barriers for 78 million Deaf and hard-of-hearing people.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85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5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Zero Barrier to Entry:</a:t>
            </a:r>
            <a:r>
              <a:rPr lang="en-US" altLang="en-US" sz="8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 Browser-based and runs on any laptop with no specialist hardware or cost.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85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5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Scalability:</a:t>
            </a:r>
            <a:r>
              <a:rPr lang="en-US" altLang="en-US" sz="8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 Vocabulary is expandable to 500+ signs post-hackathon; architecture is ready for mobile and embedded devices.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1440" y="2816352"/>
            <a:ext cx="4526280" cy="2148840"/>
          </a:xfrm>
          <a:prstGeom prst="ellipse">
            <a:avLst/>
          </a:prstGeom>
          <a:solidFill>
            <a:srgbClr val="10B981">
              <a:alpha val="13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999232"/>
            <a:ext cx="4160520" cy="1783080"/>
          </a:xfrm>
          <a:prstGeom prst="rect">
            <a:avLst/>
          </a:prstGeom>
          <a:solidFill>
            <a:srgbClr val="FFFFFF">
              <a:alpha val="92000"/>
            </a:srgbClr>
          </a:solidFill>
          <a:ln w="22860">
            <a:solidFill>
              <a:srgbClr val="10B981">
                <a:alpha val="75000"/>
              </a:srgbClr>
            </a:solidFill>
            <a:prstDash val="solid"/>
          </a:ln>
          <a:effectLst>
            <a:outerShdw blurRad="279400" dist="76200" dir="8700000" algn="bl" rotWithShape="0">
              <a:srgbClr val="5B21B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776472" y="3090672"/>
            <a:ext cx="566928" cy="566928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76472" y="309067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25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3776472" y="341071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chemeClr val="bg1"/>
                </a:solidFill>
              </a:rPr>
              <a:t>pts</a:t>
            </a:r>
          </a:p>
        </p:txBody>
      </p:sp>
      <p:sp>
        <p:nvSpPr>
          <p:cNvPr id="26" name="Text 24"/>
          <p:cNvSpPr/>
          <p:nvPr/>
        </p:nvSpPr>
        <p:spPr>
          <a:xfrm>
            <a:off x="438912" y="30906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⚖️  Ethical Alignment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3450554"/>
            <a:ext cx="3886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b="1" dirty="0">
                <a:solidFill>
                  <a:schemeClr val="accent1">
                    <a:lumMod val="75000"/>
                  </a:schemeClr>
                </a:solidFill>
              </a:rPr>
              <a:t>Human-Centric:</a:t>
            </a:r>
            <a:r>
              <a:rPr lang="en-US" sz="850" dirty="0">
                <a:solidFill>
                  <a:schemeClr val="accent1">
                    <a:lumMod val="75000"/>
                  </a:schemeClr>
                </a:solidFill>
              </a:rPr>
              <a:t> Empowers users to be understood by augmenting </a:t>
            </a:r>
            <a:br>
              <a:rPr lang="en-US" sz="85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850" dirty="0">
                <a:solidFill>
                  <a:schemeClr val="accent1">
                    <a:lumMod val="75000"/>
                  </a:schemeClr>
                </a:solidFill>
              </a:rPr>
              <a:t>communication rather than replacing human interpreters.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50" dirty="0">
              <a:solidFill>
                <a:schemeClr val="accent1">
                  <a:lumMod val="7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b="1" dirty="0">
                <a:solidFill>
                  <a:schemeClr val="accent1">
                    <a:lumMod val="75000"/>
                  </a:schemeClr>
                </a:solidFill>
              </a:rPr>
              <a:t>Privacy First:</a:t>
            </a:r>
            <a:r>
              <a:rPr lang="en-US" sz="850" dirty="0">
                <a:solidFill>
                  <a:schemeClr val="accent1">
                    <a:lumMod val="75000"/>
                  </a:schemeClr>
                </a:solidFill>
              </a:rPr>
              <a:t> 100% local processing; no data leaves the device, and no biometric data is stored.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50" dirty="0">
              <a:solidFill>
                <a:schemeClr val="accent1">
                  <a:lumMod val="7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b="1" dirty="0">
                <a:solidFill>
                  <a:schemeClr val="accent1">
                    <a:lumMod val="75000"/>
                  </a:schemeClr>
                </a:solidFill>
              </a:rPr>
              <a:t>Safety Guardrails:</a:t>
            </a:r>
            <a:r>
              <a:rPr lang="en-US" sz="850" dirty="0">
                <a:solidFill>
                  <a:schemeClr val="accent1">
                    <a:lumMod val="75000"/>
                  </a:schemeClr>
                </a:solidFill>
              </a:rPr>
              <a:t> Uses confidence thresholds to prevent misinterpretation or "wrong words.”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50" dirty="0">
              <a:solidFill>
                <a:schemeClr val="accent1">
                  <a:lumMod val="7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b="1" dirty="0">
                <a:solidFill>
                  <a:schemeClr val="accent1">
                    <a:lumMod val="75000"/>
                  </a:schemeClr>
                </a:solidFill>
              </a:rPr>
              <a:t>Inclusive Philosophy:</a:t>
            </a:r>
            <a:r>
              <a:rPr lang="en-US" sz="850" dirty="0">
                <a:solidFill>
                  <a:schemeClr val="accent1">
                    <a:lumMod val="75000"/>
                  </a:schemeClr>
                </a:solidFill>
              </a:rPr>
              <a:t> "Designed with, not for, the community."</a:t>
            </a:r>
          </a:p>
        </p:txBody>
      </p:sp>
      <p:sp>
        <p:nvSpPr>
          <p:cNvPr id="28" name="Shape 26"/>
          <p:cNvSpPr/>
          <p:nvPr/>
        </p:nvSpPr>
        <p:spPr>
          <a:xfrm>
            <a:off x="4526280" y="2816352"/>
            <a:ext cx="4526280" cy="2148840"/>
          </a:xfrm>
          <a:prstGeom prst="ellipse">
            <a:avLst/>
          </a:prstGeom>
          <a:solidFill>
            <a:srgbClr val="F43F5E">
              <a:alpha val="13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09160" y="2999232"/>
            <a:ext cx="4160520" cy="1783080"/>
          </a:xfrm>
          <a:prstGeom prst="rect">
            <a:avLst/>
          </a:prstGeom>
          <a:solidFill>
            <a:srgbClr val="FFFFFF">
              <a:alpha val="92000"/>
            </a:srgbClr>
          </a:solidFill>
          <a:ln w="22860">
            <a:solidFill>
              <a:srgbClr val="F43F5E">
                <a:alpha val="75000"/>
              </a:srgbClr>
            </a:solidFill>
            <a:prstDash val="solid"/>
          </a:ln>
          <a:effectLst>
            <a:outerShdw blurRad="279400" dist="76200" dir="8700000" algn="bl" rotWithShape="0">
              <a:srgbClr val="5B21B6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11312" y="3090672"/>
            <a:ext cx="566928" cy="566928"/>
          </a:xfrm>
          <a:prstGeom prst="ellipse">
            <a:avLst/>
          </a:prstGeom>
          <a:solidFill>
            <a:srgbClr val="F43F5E">
              <a:alpha val="85000"/>
            </a:srgbClr>
          </a:solidFill>
          <a:ln w="12700">
            <a:solidFill>
              <a:srgbClr val="F43F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11312" y="309067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20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11312" y="341071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chemeClr val="bg1"/>
                </a:solidFill>
              </a:rPr>
              <a:t>pts</a:t>
            </a:r>
          </a:p>
        </p:txBody>
      </p:sp>
      <p:sp>
        <p:nvSpPr>
          <p:cNvPr id="33" name="Text 31"/>
          <p:cNvSpPr/>
          <p:nvPr/>
        </p:nvSpPr>
        <p:spPr>
          <a:xfrm>
            <a:off x="4873752" y="30906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</a:rPr>
              <a:t>🎯  Presentation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18888" y="3440429"/>
            <a:ext cx="3886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b="1" dirty="0">
                <a:solidFill>
                  <a:schemeClr val="accent1">
                    <a:lumMod val="75000"/>
                  </a:schemeClr>
                </a:solidFill>
              </a:rPr>
              <a:t>Interactive Demo:</a:t>
            </a:r>
            <a:r>
              <a:rPr lang="en-US" sz="850" dirty="0">
                <a:solidFill>
                  <a:schemeClr val="accent1">
                    <a:lumMod val="75000"/>
                  </a:schemeClr>
                </a:solidFill>
              </a:rPr>
              <a:t> Live webcam demonstration with an honest </a:t>
            </a:r>
            <a:br>
              <a:rPr lang="en-US" sz="85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850" dirty="0">
                <a:solidFill>
                  <a:schemeClr val="accent1">
                    <a:lumMod val="75000"/>
                  </a:schemeClr>
                </a:solidFill>
              </a:rPr>
              <a:t>architecture breakdown.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50" dirty="0">
              <a:solidFill>
                <a:schemeClr val="accent1">
                  <a:lumMod val="7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b="1" dirty="0">
                <a:solidFill>
                  <a:schemeClr val="accent1">
                    <a:lumMod val="75000"/>
                  </a:schemeClr>
                </a:solidFill>
              </a:rPr>
              <a:t>Strategic Roadmap: </a:t>
            </a:r>
            <a:r>
              <a:rPr lang="en-US" sz="850" dirty="0">
                <a:solidFill>
                  <a:schemeClr val="accent1">
                    <a:lumMod val="75000"/>
                  </a:schemeClr>
                </a:solidFill>
              </a:rPr>
              <a:t>Clear plan for two-handed signs, facial expressions, and mobile app development.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50" dirty="0">
              <a:solidFill>
                <a:schemeClr val="accent1">
                  <a:lumMod val="7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b="1" dirty="0">
                <a:solidFill>
                  <a:schemeClr val="accent1">
                    <a:lumMod val="75000"/>
                  </a:schemeClr>
                </a:solidFill>
              </a:rPr>
              <a:t>Risk Mitigation: </a:t>
            </a:r>
            <a:r>
              <a:rPr lang="en-US" sz="850" dirty="0">
                <a:solidFill>
                  <a:schemeClr val="accent1">
                    <a:lumMod val="75000"/>
                  </a:schemeClr>
                </a:solidFill>
              </a:rPr>
              <a:t>Fully documented safety and failure protocols.</a:t>
            </a:r>
            <a:br>
              <a:rPr lang="en-US" sz="85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850" dirty="0">
              <a:solidFill>
                <a:schemeClr val="accent1">
                  <a:lumMod val="7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b="1" dirty="0">
                <a:solidFill>
                  <a:schemeClr val="accent1">
                    <a:lumMod val="75000"/>
                  </a:schemeClr>
                </a:solidFill>
              </a:rPr>
              <a:t>Expert Knowledge: </a:t>
            </a:r>
            <a:r>
              <a:rPr lang="en-US" sz="850" dirty="0">
                <a:solidFill>
                  <a:schemeClr val="accent1">
                    <a:lumMod val="75000"/>
                  </a:schemeClr>
                </a:solidFill>
              </a:rPr>
              <a:t>Ready to explain every line of code to any judge, technical or non-technical.</a:t>
            </a:r>
          </a:p>
        </p:txBody>
      </p:sp>
      <p:sp>
        <p:nvSpPr>
          <p:cNvPr id="59" name="Rectangle 2">
            <a:extLst>
              <a:ext uri="{FF2B5EF4-FFF2-40B4-BE49-F238E27FC236}">
                <a16:creationId xmlns:a16="http://schemas.microsoft.com/office/drawing/2014/main" id="{3FEDD5C5-E077-DAC7-352C-9415E1FB5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686</Words>
  <Application>Microsoft Macintosh PowerPoint</Application>
  <PresentationFormat>On-screen Show (16:9)</PresentationFormat>
  <Paragraphs>131</Paragraphs>
  <Slides>5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ASL Real-Time Interpreter</dc:title>
  <dc:subject>PptxGenJS Presentation</dc:subject>
  <dc:creator>PptxGenJS</dc:creator>
  <cp:lastModifiedBy>Huang, Matt K X</cp:lastModifiedBy>
  <cp:revision>4</cp:revision>
  <dcterms:created xsi:type="dcterms:W3CDTF">2026-03-24T17:40:06Z</dcterms:created>
  <dcterms:modified xsi:type="dcterms:W3CDTF">2026-03-24T19:40:52Z</dcterms:modified>
</cp:coreProperties>
</file>